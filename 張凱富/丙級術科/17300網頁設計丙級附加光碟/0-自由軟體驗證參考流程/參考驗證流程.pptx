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unknown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7" r:id="rId2"/>
    <p:sldId id="263" r:id="rId3"/>
    <p:sldId id="259" r:id="rId4"/>
    <p:sldId id="264" r:id="rId5"/>
    <p:sldId id="262" r:id="rId6"/>
    <p:sldId id="261" r:id="rId7"/>
    <p:sldId id="260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8F8F7"/>
    <a:srgbClr val="DB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94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4A0BDA-B7CE-4AD0-8BCF-0656CCBF1DE1}" type="datetimeFigureOut">
              <a:rPr lang="zh-TW" altLang="en-US" smtClean="0"/>
              <a:t>2017/12/12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7280F-990A-4AFC-8D25-B0095D2346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858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07280F-990A-4AFC-8D25-B0095D23465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678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07280F-990A-4AFC-8D25-B0095D23465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7615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07280F-990A-4AFC-8D25-B0095D23465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244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2017/12/12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2017/12/12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2017/12/12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2017/12/12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2017/12/12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2017/12/12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2017/12/12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2017/12/12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2017/12/12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2017/12/12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2017/12/12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2017/12/12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irsoft.net/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0" y="-12463"/>
            <a:ext cx="9144000" cy="540000"/>
          </a:xfrm>
          <a:prstGeom prst="rect">
            <a:avLst/>
          </a:prstGeom>
          <a:solidFill>
            <a:srgbClr val="F8F8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zh-TW" altLang="zh-TW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技術士技能檢定網頁</a:t>
            </a:r>
            <a:r>
              <a:rPr lang="zh-TW" altLang="zh-TW" sz="20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設計術科</a:t>
            </a:r>
            <a:r>
              <a:rPr lang="zh-TW" altLang="zh-TW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測試應檢人自備自由軟體之驗證參考流程</a:t>
            </a:r>
            <a:endParaRPr lang="zh-TW" altLang="en-US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735882" y="804600"/>
            <a:ext cx="3096171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2000" dirty="0" smtClean="0"/>
              <a:t>步驟</a:t>
            </a:r>
            <a:r>
              <a:rPr lang="zh-TW" altLang="en-US" sz="2000" dirty="0"/>
              <a:t>一：準備資料</a:t>
            </a:r>
            <a:r>
              <a:rPr lang="zh-TW" altLang="en-US" sz="2000" dirty="0" smtClean="0"/>
              <a:t>與軟體</a:t>
            </a:r>
            <a:endParaRPr lang="en-US" altLang="zh-TW" sz="2000" dirty="0" smtClean="0"/>
          </a:p>
        </p:txBody>
      </p:sp>
      <p:sp>
        <p:nvSpPr>
          <p:cNvPr id="4" name="文字方塊 3"/>
          <p:cNvSpPr txBox="1"/>
          <p:nvPr/>
        </p:nvSpPr>
        <p:spPr>
          <a:xfrm>
            <a:off x="4427529" y="2142435"/>
            <a:ext cx="4320000" cy="1646605"/>
          </a:xfrm>
          <a:prstGeom prst="roundRect">
            <a:avLst>
              <a:gd name="adj" fmla="val 3601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182563" indent="-182563">
              <a:spcAft>
                <a:spcPts val="600"/>
              </a:spcAft>
              <a:buFont typeface="+mj-lt"/>
              <a:buAutoNum type="arabicPeriod"/>
            </a:pPr>
            <a:r>
              <a:rPr lang="zh-TW" altLang="en-US" sz="1600" dirty="0" smtClean="0">
                <a:solidFill>
                  <a:srgbClr val="002060"/>
                </a:solidFill>
              </a:rPr>
              <a:t>應</a:t>
            </a:r>
            <a:r>
              <a:rPr lang="zh-TW" altLang="en-US" sz="1600" dirty="0">
                <a:solidFill>
                  <a:srgbClr val="002060"/>
                </a:solidFill>
              </a:rPr>
              <a:t>檢</a:t>
            </a:r>
            <a:r>
              <a:rPr lang="zh-TW" altLang="en-US" sz="1600" dirty="0" smtClean="0">
                <a:solidFill>
                  <a:srgbClr val="002060"/>
                </a:solidFill>
              </a:rPr>
              <a:t>人</a:t>
            </a:r>
            <a:r>
              <a:rPr lang="zh-TW" altLang="en-US" sz="1600" dirty="0">
                <a:solidFill>
                  <a:srgbClr val="002060"/>
                </a:solidFill>
              </a:rPr>
              <a:t>寄</a:t>
            </a:r>
            <a:r>
              <a:rPr lang="zh-TW" altLang="en-US" sz="1600" dirty="0" smtClean="0">
                <a:solidFill>
                  <a:srgbClr val="002060"/>
                </a:solidFill>
              </a:rPr>
              <a:t>來之光碟資料及軟體：</a:t>
            </a:r>
            <a:r>
              <a:rPr lang="en-US" altLang="zh-TW" sz="1600" dirty="0" smtClean="0">
                <a:solidFill>
                  <a:srgbClr val="002060"/>
                </a:solidFill>
              </a:rPr>
              <a:t>(1)</a:t>
            </a:r>
            <a:r>
              <a:rPr lang="zh-TW" altLang="zh-TW" sz="1600" dirty="0" smtClean="0">
                <a:solidFill>
                  <a:srgbClr val="002060"/>
                </a:solidFill>
              </a:rPr>
              <a:t>自備</a:t>
            </a:r>
            <a:r>
              <a:rPr lang="zh-TW" altLang="zh-TW" sz="1600" dirty="0">
                <a:solidFill>
                  <a:srgbClr val="002060"/>
                </a:solidFill>
              </a:rPr>
              <a:t>自由軟體</a:t>
            </a:r>
            <a:r>
              <a:rPr lang="zh-TW" altLang="zh-TW" sz="1600" dirty="0" smtClean="0">
                <a:solidFill>
                  <a:srgbClr val="002060"/>
                </a:solidFill>
              </a:rPr>
              <a:t>申請書</a:t>
            </a:r>
            <a:r>
              <a:rPr lang="en-US" altLang="zh-TW" sz="1600" dirty="0" smtClean="0">
                <a:solidFill>
                  <a:srgbClr val="002060"/>
                </a:solidFill>
              </a:rPr>
              <a:t>(</a:t>
            </a:r>
            <a:r>
              <a:rPr lang="zh-TW" altLang="en-US" sz="1600" dirty="0" smtClean="0">
                <a:solidFill>
                  <a:srgbClr val="FF0000"/>
                </a:solidFill>
              </a:rPr>
              <a:t>如下圖</a:t>
            </a:r>
            <a:r>
              <a:rPr lang="en-US" altLang="zh-TW" sz="1600" dirty="0" smtClean="0">
                <a:solidFill>
                  <a:srgbClr val="002060"/>
                </a:solidFill>
              </a:rPr>
              <a:t>)</a:t>
            </a:r>
            <a:r>
              <a:rPr lang="zh-TW" altLang="en-US" sz="1600" dirty="0" smtClean="0">
                <a:solidFill>
                  <a:srgbClr val="002060"/>
                </a:solidFill>
              </a:rPr>
              <a:t>；</a:t>
            </a:r>
            <a:r>
              <a:rPr lang="en-US" altLang="zh-TW" sz="1600" dirty="0" smtClean="0">
                <a:solidFill>
                  <a:srgbClr val="002060"/>
                </a:solidFill>
              </a:rPr>
              <a:t>(2)</a:t>
            </a:r>
            <a:r>
              <a:rPr lang="zh-TW" altLang="zh-TW" sz="1600" dirty="0">
                <a:solidFill>
                  <a:srgbClr val="002060"/>
                </a:solidFill>
              </a:rPr>
              <a:t>自由</a:t>
            </a:r>
            <a:r>
              <a:rPr lang="zh-TW" altLang="zh-TW" sz="1600" dirty="0" smtClean="0">
                <a:solidFill>
                  <a:srgbClr val="002060"/>
                </a:solidFill>
              </a:rPr>
              <a:t>軟體</a:t>
            </a:r>
            <a:r>
              <a:rPr lang="zh-TW" altLang="en-US" sz="1600" dirty="0" smtClean="0">
                <a:solidFill>
                  <a:srgbClr val="002060"/>
                </a:solidFill>
              </a:rPr>
              <a:t>檔案。</a:t>
            </a:r>
            <a:endParaRPr lang="en-US" altLang="zh-TW" sz="1600" dirty="0">
              <a:solidFill>
                <a:srgbClr val="002060"/>
              </a:solidFill>
            </a:endParaRPr>
          </a:p>
          <a:p>
            <a:pPr marL="182563" indent="-182563">
              <a:spcAft>
                <a:spcPts val="1200"/>
              </a:spcAft>
              <a:buFont typeface="+mj-lt"/>
              <a:buAutoNum type="arabicPeriod"/>
            </a:pPr>
            <a:r>
              <a:rPr lang="zh-TW" altLang="en-US" sz="1600" dirty="0" smtClean="0">
                <a:solidFill>
                  <a:srgbClr val="002060"/>
                </a:solidFill>
              </a:rPr>
              <a:t>取得產生</a:t>
            </a:r>
            <a:r>
              <a:rPr lang="zh-TW" altLang="zh-TW" sz="1600" dirty="0" smtClean="0">
                <a:solidFill>
                  <a:srgbClr val="002060"/>
                </a:solidFill>
              </a:rPr>
              <a:t>驗證碼</a:t>
            </a:r>
            <a:r>
              <a:rPr lang="zh-TW" altLang="en-US" sz="1600" dirty="0" smtClean="0">
                <a:solidFill>
                  <a:srgbClr val="002060"/>
                </a:solidFill>
              </a:rPr>
              <a:t>之工具</a:t>
            </a:r>
            <a:r>
              <a:rPr lang="zh-TW" altLang="zh-TW" sz="1600" dirty="0" smtClean="0">
                <a:solidFill>
                  <a:srgbClr val="002060"/>
                </a:solidFill>
              </a:rPr>
              <a:t>軟體</a:t>
            </a:r>
            <a:r>
              <a:rPr lang="zh-TW" altLang="en-US" sz="1600" dirty="0" smtClean="0">
                <a:solidFill>
                  <a:srgbClr val="002060"/>
                </a:solidFill>
              </a:rPr>
              <a:t>：</a:t>
            </a:r>
            <a:r>
              <a:rPr lang="en-US" altLang="zh-TW" sz="1600" dirty="0" smtClean="0">
                <a:solidFill>
                  <a:srgbClr val="002060"/>
                </a:solidFill>
              </a:rPr>
              <a:t/>
            </a:r>
            <a:br>
              <a:rPr lang="en-US" altLang="zh-TW" sz="1600" dirty="0" smtClean="0">
                <a:solidFill>
                  <a:srgbClr val="002060"/>
                </a:solidFill>
              </a:rPr>
            </a:br>
            <a:r>
              <a:rPr lang="en-US" altLang="zh-TW" sz="1600" dirty="0" smtClean="0">
                <a:solidFill>
                  <a:srgbClr val="002060"/>
                </a:solidFill>
              </a:rPr>
              <a:t>(1)</a:t>
            </a:r>
            <a:r>
              <a:rPr lang="zh-TW" altLang="en-US" sz="1600" dirty="0" smtClean="0">
                <a:solidFill>
                  <a:srgbClr val="002060"/>
                </a:solidFill>
              </a:rPr>
              <a:t>選擇自己熟悉的軟體</a:t>
            </a:r>
            <a:r>
              <a:rPr lang="zh-TW" altLang="en-US" sz="1600" dirty="0">
                <a:solidFill>
                  <a:srgbClr val="002060"/>
                </a:solidFill>
              </a:rPr>
              <a:t>；</a:t>
            </a:r>
            <a:r>
              <a:rPr lang="zh-TW" altLang="en-US" sz="1600" dirty="0" smtClean="0">
                <a:solidFill>
                  <a:srgbClr val="002060"/>
                </a:solidFill>
              </a:rPr>
              <a:t>或 </a:t>
            </a:r>
            <a:r>
              <a:rPr lang="en-US" altLang="zh-TW" sz="1600" dirty="0" smtClean="0">
                <a:solidFill>
                  <a:srgbClr val="002060"/>
                </a:solidFill>
              </a:rPr>
              <a:t>(2)</a:t>
            </a:r>
            <a:r>
              <a:rPr lang="zh-TW" altLang="en-US" sz="1600" dirty="0" smtClean="0">
                <a:solidFill>
                  <a:srgbClr val="002060"/>
                </a:solidFill>
              </a:rPr>
              <a:t>參考使用 </a:t>
            </a:r>
            <a:r>
              <a:rPr lang="en-US" altLang="zh-TW" sz="1600" dirty="0" err="1" smtClean="0">
                <a:solidFill>
                  <a:srgbClr val="002060"/>
                </a:solidFill>
              </a:rPr>
              <a:t>HashMyFiles</a:t>
            </a:r>
            <a:r>
              <a:rPr lang="zh-TW" altLang="en-US" sz="1600" dirty="0" smtClean="0">
                <a:solidFill>
                  <a:srgbClr val="002060"/>
                </a:solidFill>
              </a:rPr>
              <a:t> 軟體</a:t>
            </a:r>
            <a:r>
              <a:rPr lang="zh-TW" altLang="en-US" sz="1600" dirty="0">
                <a:solidFill>
                  <a:srgbClr val="002060"/>
                </a:solidFill>
              </a:rPr>
              <a:t>，下載可參考</a:t>
            </a:r>
            <a:r>
              <a:rPr lang="en-US" altLang="zh-TW" sz="1600" b="1" dirty="0">
                <a:solidFill>
                  <a:srgbClr val="FF0000"/>
                </a:solidFill>
              </a:rPr>
              <a:t>《</a:t>
            </a:r>
            <a:r>
              <a:rPr lang="zh-TW" altLang="en-US" sz="1600" b="1" dirty="0">
                <a:solidFill>
                  <a:srgbClr val="FF0000"/>
                </a:solidFill>
                <a:hlinkClick r:id="rId2" action="ppaction://hlinksldjump"/>
              </a:rPr>
              <a:t>影片一</a:t>
            </a:r>
            <a:r>
              <a:rPr lang="en-US" altLang="zh-TW" sz="1600" b="1" dirty="0">
                <a:solidFill>
                  <a:srgbClr val="FF0000"/>
                </a:solidFill>
              </a:rPr>
              <a:t>》</a:t>
            </a:r>
            <a:r>
              <a:rPr lang="zh-TW" altLang="en-US" sz="1600" dirty="0" smtClean="0">
                <a:solidFill>
                  <a:srgbClr val="002060"/>
                </a:solidFill>
              </a:rPr>
              <a:t> </a:t>
            </a:r>
            <a:r>
              <a:rPr lang="en-US" altLang="zh-TW" sz="1400" dirty="0" smtClean="0">
                <a:solidFill>
                  <a:srgbClr val="002060"/>
                </a:solidFill>
              </a:rPr>
              <a:t>(</a:t>
            </a:r>
            <a:r>
              <a:rPr lang="zh-TW" altLang="en-US" sz="1400" dirty="0">
                <a:solidFill>
                  <a:srgbClr val="002060"/>
                </a:solidFill>
              </a:rPr>
              <a:t>網址：</a:t>
            </a:r>
            <a:r>
              <a:rPr lang="en-US" altLang="zh-TW" sz="1400" dirty="0">
                <a:solidFill>
                  <a:srgbClr val="002060"/>
                </a:solidFill>
                <a:hlinkClick r:id="rId3"/>
              </a:rPr>
              <a:t>http://www.nirsoft.net</a:t>
            </a:r>
            <a:r>
              <a:rPr lang="en-US" altLang="zh-TW" sz="1400" dirty="0" smtClean="0">
                <a:solidFill>
                  <a:srgbClr val="002060"/>
                </a:solidFill>
              </a:rPr>
              <a:t>)</a:t>
            </a:r>
            <a:r>
              <a:rPr lang="en-US" altLang="zh-TW" sz="1600" b="1" dirty="0" smtClean="0">
                <a:solidFill>
                  <a:srgbClr val="002060"/>
                </a:solidFill>
              </a:rPr>
              <a:t> </a:t>
            </a:r>
            <a:r>
              <a:rPr lang="zh-TW" altLang="en-US" sz="1600" dirty="0" smtClean="0">
                <a:solidFill>
                  <a:srgbClr val="002060"/>
                </a:solidFill>
              </a:rPr>
              <a:t>。</a:t>
            </a:r>
            <a:endParaRPr lang="en-US" altLang="zh-TW" sz="1600" dirty="0" smtClean="0">
              <a:solidFill>
                <a:srgbClr val="002060"/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5469274" y="1383915"/>
            <a:ext cx="2236510" cy="40011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>
            <a:noAutofit/>
          </a:bodyPr>
          <a:lstStyle/>
          <a:p>
            <a:r>
              <a:rPr lang="zh-TW" altLang="en-US" sz="2000" dirty="0">
                <a:solidFill>
                  <a:schemeClr val="bg1"/>
                </a:solidFill>
              </a:rPr>
              <a:t>術科</a:t>
            </a:r>
            <a:r>
              <a:rPr lang="zh-TW" altLang="en-US" sz="2000" dirty="0" smtClean="0">
                <a:solidFill>
                  <a:schemeClr val="bg1"/>
                </a:solidFill>
              </a:rPr>
              <a:t>測試辦理單位</a:t>
            </a:r>
            <a:endParaRPr lang="zh-TW" altLang="en-US" sz="2000" dirty="0">
              <a:solidFill>
                <a:schemeClr val="bg1"/>
              </a:solidFill>
            </a:endParaRPr>
          </a:p>
        </p:txBody>
      </p:sp>
      <p:sp>
        <p:nvSpPr>
          <p:cNvPr id="7" name="向下箭號 6"/>
          <p:cNvSpPr/>
          <p:nvPr/>
        </p:nvSpPr>
        <p:spPr>
          <a:xfrm>
            <a:off x="6475965" y="1857825"/>
            <a:ext cx="223128" cy="216000"/>
          </a:xfrm>
          <a:prstGeom prst="downArrow">
            <a:avLst/>
          </a:prstGeom>
          <a:ln w="1905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1601968" y="1383915"/>
            <a:ext cx="1296000" cy="40011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>
            <a:noAutofit/>
          </a:bodyPr>
          <a:lstStyle/>
          <a:p>
            <a:pPr algn="ctr"/>
            <a:r>
              <a:rPr lang="zh-TW" altLang="en-US" sz="2000" spc="300" dirty="0">
                <a:solidFill>
                  <a:schemeClr val="bg1"/>
                </a:solidFill>
              </a:rPr>
              <a:t>應檢人</a:t>
            </a:r>
          </a:p>
        </p:txBody>
      </p:sp>
      <p:sp>
        <p:nvSpPr>
          <p:cNvPr id="11" name="向下箭號 10"/>
          <p:cNvSpPr/>
          <p:nvPr/>
        </p:nvSpPr>
        <p:spPr>
          <a:xfrm>
            <a:off x="2138404" y="1857825"/>
            <a:ext cx="223128" cy="216000"/>
          </a:xfrm>
          <a:prstGeom prst="downArrow">
            <a:avLst/>
          </a:prstGeom>
          <a:ln w="1905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15968" y="2142435"/>
            <a:ext cx="4068000" cy="1645200"/>
          </a:xfrm>
          <a:prstGeom prst="roundRect">
            <a:avLst>
              <a:gd name="adj" fmla="val 3589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182563" indent="-182563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TW" altLang="en-US" sz="1600" dirty="0">
                <a:solidFill>
                  <a:srgbClr val="002060"/>
                </a:solidFill>
              </a:rPr>
              <a:t>取得</a:t>
            </a:r>
            <a:r>
              <a:rPr lang="zh-TW" altLang="zh-TW" sz="1600" dirty="0" smtClean="0">
                <a:solidFill>
                  <a:srgbClr val="002060"/>
                </a:solidFill>
              </a:rPr>
              <a:t>自由軟體</a:t>
            </a:r>
            <a:r>
              <a:rPr lang="zh-TW" altLang="en-US" sz="1600" dirty="0" smtClean="0">
                <a:solidFill>
                  <a:srgbClr val="002060"/>
                </a:solidFill>
              </a:rPr>
              <a:t>檔案。</a:t>
            </a:r>
            <a:endParaRPr lang="en-US" altLang="zh-TW" sz="1600" dirty="0">
              <a:solidFill>
                <a:srgbClr val="002060"/>
              </a:solidFill>
            </a:endParaRPr>
          </a:p>
          <a:p>
            <a:pPr marL="182563" indent="-182563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zh-TW" altLang="en-US" sz="1600" dirty="0" smtClean="0">
                <a:solidFill>
                  <a:srgbClr val="002060"/>
                </a:solidFill>
              </a:rPr>
              <a:t>取得產生</a:t>
            </a:r>
            <a:r>
              <a:rPr lang="zh-TW" altLang="zh-TW" sz="1600" dirty="0" smtClean="0">
                <a:solidFill>
                  <a:srgbClr val="002060"/>
                </a:solidFill>
              </a:rPr>
              <a:t>驗證碼</a:t>
            </a:r>
            <a:r>
              <a:rPr lang="zh-TW" altLang="en-US" sz="1600" dirty="0" smtClean="0">
                <a:solidFill>
                  <a:srgbClr val="002060"/>
                </a:solidFill>
              </a:rPr>
              <a:t>之工具</a:t>
            </a:r>
            <a:r>
              <a:rPr lang="zh-TW" altLang="zh-TW" sz="1600" dirty="0" smtClean="0">
                <a:solidFill>
                  <a:srgbClr val="002060"/>
                </a:solidFill>
              </a:rPr>
              <a:t>軟體</a:t>
            </a:r>
            <a:r>
              <a:rPr lang="zh-TW" altLang="en-US" sz="1600" dirty="0" smtClean="0">
                <a:solidFill>
                  <a:srgbClr val="002060"/>
                </a:solidFill>
              </a:rPr>
              <a:t>：</a:t>
            </a:r>
            <a:r>
              <a:rPr lang="en-US" altLang="zh-TW" sz="1600" dirty="0" smtClean="0">
                <a:solidFill>
                  <a:srgbClr val="002060"/>
                </a:solidFill>
              </a:rPr>
              <a:t/>
            </a:r>
            <a:br>
              <a:rPr lang="en-US" altLang="zh-TW" sz="1600" dirty="0" smtClean="0">
                <a:solidFill>
                  <a:srgbClr val="002060"/>
                </a:solidFill>
              </a:rPr>
            </a:br>
            <a:r>
              <a:rPr lang="en-US" altLang="zh-TW" sz="1600" dirty="0" smtClean="0">
                <a:solidFill>
                  <a:srgbClr val="002060"/>
                </a:solidFill>
              </a:rPr>
              <a:t>(1)</a:t>
            </a:r>
            <a:r>
              <a:rPr lang="zh-TW" altLang="en-US" sz="1600" dirty="0" smtClean="0">
                <a:solidFill>
                  <a:srgbClr val="002060"/>
                </a:solidFill>
              </a:rPr>
              <a:t>選擇自己熟悉的軟體；或 </a:t>
            </a:r>
            <a:r>
              <a:rPr lang="en-US" altLang="zh-TW" sz="1600" dirty="0" smtClean="0">
                <a:solidFill>
                  <a:srgbClr val="002060"/>
                </a:solidFill>
              </a:rPr>
              <a:t>(2)</a:t>
            </a:r>
            <a:r>
              <a:rPr lang="zh-TW" altLang="en-US" sz="1600" dirty="0" smtClean="0">
                <a:solidFill>
                  <a:srgbClr val="002060"/>
                </a:solidFill>
              </a:rPr>
              <a:t>參考使用 </a:t>
            </a:r>
            <a:r>
              <a:rPr lang="en-US" altLang="zh-TW" sz="1600" dirty="0" err="1" smtClean="0">
                <a:solidFill>
                  <a:srgbClr val="002060"/>
                </a:solidFill>
              </a:rPr>
              <a:t>HashMyFiles</a:t>
            </a:r>
            <a:r>
              <a:rPr lang="zh-TW" altLang="en-US" sz="1600" dirty="0" smtClean="0">
                <a:solidFill>
                  <a:srgbClr val="002060"/>
                </a:solidFill>
              </a:rPr>
              <a:t> 軟體</a:t>
            </a:r>
            <a:r>
              <a:rPr lang="zh-TW" altLang="en-US" sz="1600" dirty="0">
                <a:solidFill>
                  <a:srgbClr val="002060"/>
                </a:solidFill>
              </a:rPr>
              <a:t>，下載可參考</a:t>
            </a:r>
            <a:r>
              <a:rPr lang="en-US" altLang="zh-TW" sz="1600" b="1" dirty="0">
                <a:solidFill>
                  <a:srgbClr val="FF0000"/>
                </a:solidFill>
              </a:rPr>
              <a:t>《</a:t>
            </a:r>
            <a:r>
              <a:rPr lang="zh-TW" altLang="en-US" sz="1600" b="1" dirty="0">
                <a:solidFill>
                  <a:srgbClr val="FF0000"/>
                </a:solidFill>
                <a:hlinkClick r:id="rId2" action="ppaction://hlinksldjump"/>
              </a:rPr>
              <a:t>影片一</a:t>
            </a:r>
            <a:r>
              <a:rPr lang="en-US" altLang="zh-TW" sz="1600" b="1" dirty="0">
                <a:solidFill>
                  <a:srgbClr val="FF0000"/>
                </a:solidFill>
              </a:rPr>
              <a:t>》</a:t>
            </a:r>
            <a:r>
              <a:rPr lang="zh-TW" altLang="en-US" sz="1600" dirty="0" smtClean="0">
                <a:solidFill>
                  <a:srgbClr val="002060"/>
                </a:solidFill>
              </a:rPr>
              <a:t> </a:t>
            </a:r>
            <a:r>
              <a:rPr lang="en-US" altLang="zh-TW" sz="1400" dirty="0" smtClean="0">
                <a:solidFill>
                  <a:srgbClr val="002060"/>
                </a:solidFill>
              </a:rPr>
              <a:t>(</a:t>
            </a:r>
            <a:r>
              <a:rPr lang="zh-TW" altLang="en-US" sz="1400" dirty="0">
                <a:solidFill>
                  <a:srgbClr val="002060"/>
                </a:solidFill>
              </a:rPr>
              <a:t>網址：</a:t>
            </a:r>
            <a:r>
              <a:rPr lang="en-US" altLang="zh-TW" sz="1400" dirty="0">
                <a:solidFill>
                  <a:srgbClr val="002060"/>
                </a:solidFill>
                <a:hlinkClick r:id="rId3"/>
              </a:rPr>
              <a:t>http://www.nirsoft.net</a:t>
            </a:r>
            <a:r>
              <a:rPr lang="en-US" altLang="zh-TW" sz="1400" dirty="0" smtClean="0">
                <a:solidFill>
                  <a:srgbClr val="002060"/>
                </a:solidFill>
              </a:rPr>
              <a:t>)</a:t>
            </a:r>
            <a:r>
              <a:rPr lang="en-US" altLang="zh-TW" sz="1600" b="1" dirty="0" smtClean="0">
                <a:solidFill>
                  <a:srgbClr val="002060"/>
                </a:solidFill>
              </a:rPr>
              <a:t> </a:t>
            </a:r>
            <a:r>
              <a:rPr lang="zh-TW" altLang="en-US" sz="1600" dirty="0" smtClean="0">
                <a:solidFill>
                  <a:srgbClr val="002060"/>
                </a:solidFill>
              </a:rPr>
              <a:t>。</a:t>
            </a:r>
            <a:endParaRPr lang="en-US" altLang="zh-TW" sz="1600" dirty="0" smtClean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" t="16383" r="6167" b="3353"/>
          <a:stretch/>
        </p:blipFill>
        <p:spPr bwMode="auto">
          <a:xfrm>
            <a:off x="1979712" y="3901185"/>
            <a:ext cx="4770304" cy="2912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443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0-驗證碼檢測工具軟體下載範例(HashMyfiles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0000" y="1340768"/>
            <a:ext cx="8704000" cy="48960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" name="文字方塊 3"/>
          <p:cNvSpPr txBox="1"/>
          <p:nvPr/>
        </p:nvSpPr>
        <p:spPr>
          <a:xfrm>
            <a:off x="3690156" y="476672"/>
            <a:ext cx="1763688" cy="4426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0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spc="300" dirty="0"/>
              <a:t>影片一</a:t>
            </a:r>
          </a:p>
        </p:txBody>
      </p:sp>
    </p:spTree>
    <p:extLst>
      <p:ext uri="{BB962C8B-B14F-4D97-AF65-F5344CB8AC3E}">
        <p14:creationId xmlns:p14="http://schemas.microsoft.com/office/powerpoint/2010/main" val="325053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2987824" y="493782"/>
            <a:ext cx="2632248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000"/>
            </a:lvl1pPr>
          </a:lstStyle>
          <a:p>
            <a:r>
              <a:rPr lang="zh-TW" altLang="en-US" dirty="0" smtClean="0"/>
              <a:t>步驟二：</a:t>
            </a:r>
            <a:r>
              <a:rPr lang="zh-TW" altLang="en-US" dirty="0"/>
              <a:t>產生驗證碼</a:t>
            </a:r>
            <a:endParaRPr lang="en-US" altLang="zh-TW" dirty="0"/>
          </a:p>
        </p:txBody>
      </p:sp>
      <p:sp>
        <p:nvSpPr>
          <p:cNvPr id="3" name="文字方塊 2"/>
          <p:cNvSpPr txBox="1"/>
          <p:nvPr/>
        </p:nvSpPr>
        <p:spPr>
          <a:xfrm>
            <a:off x="880354" y="1386009"/>
            <a:ext cx="6986747" cy="7602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zh-TW"/>
            </a:defPPr>
            <a:lvl1pPr marL="182563" indent="-182563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 sz="1600">
                <a:solidFill>
                  <a:srgbClr val="00206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TW" altLang="en-US" dirty="0"/>
              <a:t>啟動產生</a:t>
            </a:r>
            <a:r>
              <a:rPr lang="zh-TW" altLang="zh-TW" dirty="0"/>
              <a:t>驗證碼</a:t>
            </a:r>
            <a:r>
              <a:rPr lang="zh-TW" altLang="en-US" dirty="0"/>
              <a:t>之</a:t>
            </a:r>
            <a:r>
              <a:rPr lang="zh-TW" altLang="zh-TW" dirty="0"/>
              <a:t>工具軟體</a:t>
            </a:r>
            <a:r>
              <a:rPr lang="zh-TW" altLang="en-US" dirty="0"/>
              <a:t> ，以</a:t>
            </a:r>
            <a:r>
              <a:rPr lang="en-US" altLang="zh-TW" dirty="0" err="1"/>
              <a:t>HashMyFiles</a:t>
            </a:r>
            <a:r>
              <a:rPr lang="zh-TW" altLang="en-US" dirty="0"/>
              <a:t>軟體為例。</a:t>
            </a:r>
            <a:endParaRPr lang="en-US" altLang="zh-TW" dirty="0"/>
          </a:p>
          <a:p>
            <a:r>
              <a:rPr lang="zh-TW" altLang="en-US" dirty="0"/>
              <a:t>加入欲驗證之</a:t>
            </a:r>
            <a:r>
              <a:rPr lang="zh-TW" altLang="zh-TW" dirty="0"/>
              <a:t>自由軟體</a:t>
            </a:r>
            <a:r>
              <a:rPr lang="zh-TW" altLang="en-US" dirty="0"/>
              <a:t>檔案，產出驗證碼，如</a:t>
            </a:r>
            <a:r>
              <a:rPr lang="zh-TW" altLang="en-US" dirty="0">
                <a:solidFill>
                  <a:srgbClr val="FF0000"/>
                </a:solidFill>
              </a:rPr>
              <a:t>下圖</a:t>
            </a:r>
            <a:r>
              <a:rPr lang="zh-TW" altLang="en-US" dirty="0" smtClean="0"/>
              <a:t>所示或參考</a:t>
            </a:r>
            <a:r>
              <a:rPr lang="en-US" altLang="zh-TW" b="1" dirty="0" smtClean="0">
                <a:solidFill>
                  <a:srgbClr val="FF0000"/>
                </a:solidFill>
              </a:rPr>
              <a:t>《</a:t>
            </a:r>
            <a:r>
              <a:rPr lang="zh-TW" altLang="en-US" b="1" dirty="0">
                <a:solidFill>
                  <a:srgbClr val="FF0000"/>
                </a:solidFill>
                <a:hlinkClick r:id="rId2" action="ppaction://hlinksldjump"/>
              </a:rPr>
              <a:t>影片二</a:t>
            </a:r>
            <a:r>
              <a:rPr lang="en-US" altLang="zh-TW" b="1" dirty="0">
                <a:solidFill>
                  <a:srgbClr val="FF0000"/>
                </a:solidFill>
              </a:rPr>
              <a:t>》 </a:t>
            </a:r>
            <a:r>
              <a:rPr lang="zh-TW" altLang="en-US" dirty="0" smtClean="0"/>
              <a:t>。</a:t>
            </a:r>
            <a:endParaRPr lang="en-US" altLang="zh-TW" dirty="0"/>
          </a:p>
        </p:txBody>
      </p:sp>
      <p:grpSp>
        <p:nvGrpSpPr>
          <p:cNvPr id="5" name="群組 4"/>
          <p:cNvGrpSpPr/>
          <p:nvPr/>
        </p:nvGrpSpPr>
        <p:grpSpPr>
          <a:xfrm>
            <a:off x="395536" y="2363375"/>
            <a:ext cx="8420994" cy="4323214"/>
            <a:chOff x="395536" y="2363375"/>
            <a:chExt cx="8420994" cy="4323214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69" t="26146" r="26998" b="20467"/>
            <a:stretch/>
          </p:blipFill>
          <p:spPr bwMode="auto">
            <a:xfrm>
              <a:off x="2123728" y="2363375"/>
              <a:ext cx="4500000" cy="338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536" y="5085184"/>
              <a:ext cx="8420994" cy="1601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圓角矩形 3"/>
            <p:cNvSpPr/>
            <p:nvPr/>
          </p:nvSpPr>
          <p:spPr>
            <a:xfrm>
              <a:off x="2123728" y="2679192"/>
              <a:ext cx="2808312" cy="24575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20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690156" y="476672"/>
            <a:ext cx="1763688" cy="4426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0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spc="300" dirty="0" smtClean="0"/>
              <a:t>影片二</a:t>
            </a:r>
            <a:endParaRPr lang="zh-TW" altLang="en-US" spc="300" dirty="0"/>
          </a:p>
        </p:txBody>
      </p:sp>
      <p:pic>
        <p:nvPicPr>
          <p:cNvPr id="3" name="影片二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5786" y="1271337"/>
            <a:ext cx="8412427" cy="473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1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1619672" y="260648"/>
            <a:ext cx="6048672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000"/>
            </a:lvl1pPr>
          </a:lstStyle>
          <a:p>
            <a:r>
              <a:rPr lang="zh-TW" altLang="en-US" dirty="0" smtClean="0"/>
              <a:t>步驟三：取得</a:t>
            </a:r>
            <a:r>
              <a:rPr lang="zh-TW" altLang="en-US" dirty="0"/>
              <a:t>官方網站所</a:t>
            </a:r>
            <a:r>
              <a:rPr lang="zh-TW" altLang="en-US" dirty="0" smtClean="0"/>
              <a:t>提供自由</a:t>
            </a:r>
            <a:r>
              <a:rPr lang="zh-TW" altLang="en-US" dirty="0"/>
              <a:t>軟體之驗證</a:t>
            </a:r>
            <a:r>
              <a:rPr lang="zh-TW" altLang="en-US" dirty="0" smtClean="0"/>
              <a:t>碼</a:t>
            </a:r>
            <a:endParaRPr lang="en-US" altLang="zh-TW" dirty="0"/>
          </a:p>
        </p:txBody>
      </p:sp>
      <p:sp>
        <p:nvSpPr>
          <p:cNvPr id="3" name="文字方塊 2"/>
          <p:cNvSpPr txBox="1"/>
          <p:nvPr/>
        </p:nvSpPr>
        <p:spPr>
          <a:xfrm>
            <a:off x="755575" y="1124744"/>
            <a:ext cx="7634197" cy="65652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TW"/>
            </a:defPPr>
            <a:lvl1pPr marL="182563" indent="-182563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indent="0" algn="ctr">
              <a:buNone/>
            </a:pPr>
            <a:r>
              <a:rPr lang="zh-TW" altLang="en-US" dirty="0">
                <a:solidFill>
                  <a:srgbClr val="002060"/>
                </a:solidFill>
              </a:rPr>
              <a:t>依據</a:t>
            </a:r>
            <a:r>
              <a:rPr lang="zh-TW" altLang="zh-TW" dirty="0">
                <a:solidFill>
                  <a:srgbClr val="002060"/>
                </a:solidFill>
              </a:rPr>
              <a:t>申請書</a:t>
            </a:r>
            <a:r>
              <a:rPr lang="zh-TW" altLang="en-US" dirty="0">
                <a:solidFill>
                  <a:srgbClr val="002060"/>
                </a:solidFill>
              </a:rPr>
              <a:t>中「官方之驗證碼下載網址</a:t>
            </a:r>
            <a:r>
              <a:rPr lang="zh-TW" altLang="en-US" dirty="0" smtClean="0">
                <a:solidFill>
                  <a:srgbClr val="002060"/>
                </a:solidFill>
              </a:rPr>
              <a:t>」確認</a:t>
            </a:r>
            <a:r>
              <a:rPr lang="zh-TW" altLang="en-US" dirty="0">
                <a:solidFill>
                  <a:srgbClr val="002060"/>
                </a:solidFill>
              </a:rPr>
              <a:t>軟體名稱、版本</a:t>
            </a:r>
            <a:r>
              <a:rPr lang="zh-TW" altLang="en-US" dirty="0" smtClean="0">
                <a:solidFill>
                  <a:srgbClr val="002060"/>
                </a:solidFill>
              </a:rPr>
              <a:t>，並取得</a:t>
            </a:r>
            <a:r>
              <a:rPr lang="zh-TW" altLang="en-US" dirty="0">
                <a:solidFill>
                  <a:srgbClr val="002060"/>
                </a:solidFill>
              </a:rPr>
              <a:t>驗證</a:t>
            </a:r>
            <a:r>
              <a:rPr lang="zh-TW" altLang="en-US" dirty="0" smtClean="0">
                <a:solidFill>
                  <a:srgbClr val="002060"/>
                </a:solidFill>
              </a:rPr>
              <a:t>碼。</a:t>
            </a:r>
            <a:r>
              <a:rPr lang="en-US" altLang="zh-TW" dirty="0" smtClean="0">
                <a:solidFill>
                  <a:srgbClr val="002060"/>
                </a:solidFill>
              </a:rPr>
              <a:t/>
            </a:r>
            <a:br>
              <a:rPr lang="en-US" altLang="zh-TW" dirty="0" smtClean="0">
                <a:solidFill>
                  <a:srgbClr val="002060"/>
                </a:solidFill>
              </a:rPr>
            </a:br>
            <a:r>
              <a:rPr lang="zh-TW" altLang="en-US" dirty="0" smtClean="0">
                <a:solidFill>
                  <a:srgbClr val="002060"/>
                </a:solidFill>
              </a:rPr>
              <a:t>（以</a:t>
            </a:r>
            <a:r>
              <a:rPr lang="en-US" altLang="zh-TW" dirty="0" err="1">
                <a:solidFill>
                  <a:srgbClr val="002060"/>
                </a:solidFill>
              </a:rPr>
              <a:t>AppServ</a:t>
            </a:r>
            <a:r>
              <a:rPr lang="zh-TW" altLang="en-US" dirty="0">
                <a:solidFill>
                  <a:srgbClr val="002060"/>
                </a:solidFill>
              </a:rPr>
              <a:t>為</a:t>
            </a:r>
            <a:r>
              <a:rPr lang="zh-TW" altLang="en-US" dirty="0" smtClean="0">
                <a:solidFill>
                  <a:srgbClr val="002060"/>
                </a:solidFill>
              </a:rPr>
              <a:t>例）</a:t>
            </a:r>
            <a:endParaRPr lang="en-US" altLang="zh-TW" dirty="0">
              <a:solidFill>
                <a:srgbClr val="002060"/>
              </a:solidFill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755576" y="1844824"/>
            <a:ext cx="7634197" cy="4771242"/>
            <a:chOff x="755576" y="1844824"/>
            <a:chExt cx="7634197" cy="4771242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3" t="14020" r="4491" b="5168"/>
            <a:stretch/>
          </p:blipFill>
          <p:spPr bwMode="auto">
            <a:xfrm>
              <a:off x="755576" y="1844824"/>
              <a:ext cx="7634197" cy="4771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圓角矩形 4"/>
            <p:cNvSpPr/>
            <p:nvPr/>
          </p:nvSpPr>
          <p:spPr>
            <a:xfrm>
              <a:off x="933586" y="6309320"/>
              <a:ext cx="3168352" cy="216024"/>
            </a:xfrm>
            <a:prstGeom prst="roundRect">
              <a:avLst/>
            </a:prstGeom>
            <a:solidFill>
              <a:srgbClr val="FF0000">
                <a:alpha val="0"/>
              </a:srgbClr>
            </a:solidFill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843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/>
          <p:cNvGrpSpPr/>
          <p:nvPr/>
        </p:nvGrpSpPr>
        <p:grpSpPr>
          <a:xfrm>
            <a:off x="871433" y="742555"/>
            <a:ext cx="7988999" cy="958254"/>
            <a:chOff x="899592" y="500163"/>
            <a:chExt cx="7988999" cy="958254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930" t="29544" r="20843" b="49251"/>
            <a:stretch/>
          </p:blipFill>
          <p:spPr bwMode="auto">
            <a:xfrm>
              <a:off x="2767911" y="500163"/>
              <a:ext cx="6120680" cy="95825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文字方塊 3"/>
            <p:cNvSpPr txBox="1"/>
            <p:nvPr/>
          </p:nvSpPr>
          <p:spPr>
            <a:xfrm>
              <a:off x="899592" y="633462"/>
              <a:ext cx="1872208" cy="6565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>
              <a:defPPr>
                <a:defRPr lang="zh-TW"/>
              </a:defPPr>
              <a:lvl1pPr indent="0" algn="ctr">
                <a:lnSpc>
                  <a:spcPct val="120000"/>
                </a:lnSpc>
                <a:spcAft>
                  <a:spcPts val="600"/>
                </a:spcAft>
                <a:buFont typeface="+mj-lt"/>
                <a:buNone/>
                <a:defRPr sz="1600">
                  <a:solidFill>
                    <a:srgbClr val="002060"/>
                  </a:solidFill>
                </a:defRPr>
              </a:lvl1pPr>
            </a:lstStyle>
            <a:p>
              <a:r>
                <a:rPr lang="zh-TW" altLang="en-US" dirty="0"/>
                <a:t>應檢人光碟內之軟體產出驗證碼</a:t>
              </a:r>
              <a:endParaRPr lang="en-US" altLang="zh-TW" dirty="0"/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899592" y="1982128"/>
            <a:ext cx="7960840" cy="781086"/>
            <a:chOff x="899592" y="1755102"/>
            <a:chExt cx="7988256" cy="78108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48" t="63634" r="60862" b="28829"/>
            <a:stretch/>
          </p:blipFill>
          <p:spPr bwMode="auto">
            <a:xfrm>
              <a:off x="2767168" y="1755102"/>
              <a:ext cx="6120680" cy="78108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pic>
        <p:sp>
          <p:nvSpPr>
            <p:cNvPr id="6" name="文字方塊 5"/>
            <p:cNvSpPr txBox="1"/>
            <p:nvPr/>
          </p:nvSpPr>
          <p:spPr>
            <a:xfrm>
              <a:off x="899592" y="1844824"/>
              <a:ext cx="1840160" cy="6565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>
              <a:defPPr>
                <a:defRPr lang="zh-TW"/>
              </a:defPPr>
              <a:lvl1pPr indent="0" algn="ctr">
                <a:lnSpc>
                  <a:spcPct val="120000"/>
                </a:lnSpc>
                <a:spcAft>
                  <a:spcPts val="600"/>
                </a:spcAft>
                <a:buFont typeface="+mj-lt"/>
                <a:buNone/>
                <a:defRPr sz="1600">
                  <a:solidFill>
                    <a:srgbClr val="002060"/>
                  </a:solidFill>
                </a:defRPr>
              </a:lvl1pPr>
            </a:lstStyle>
            <a:p>
              <a:r>
                <a:rPr lang="zh-TW" altLang="en-US" dirty="0"/>
                <a:t>官方網站所提供自由軟體之驗證碼</a:t>
              </a:r>
              <a:endParaRPr lang="en-US" altLang="zh-TW" dirty="0"/>
            </a:p>
          </p:txBody>
        </p:sp>
      </p:grpSp>
      <p:sp>
        <p:nvSpPr>
          <p:cNvPr id="7" name="文字方塊 6"/>
          <p:cNvSpPr txBox="1"/>
          <p:nvPr/>
        </p:nvSpPr>
        <p:spPr>
          <a:xfrm>
            <a:off x="499592" y="3790780"/>
            <a:ext cx="8392888" cy="10783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TW"/>
            </a:defPPr>
            <a:lvl1pPr indent="0" algn="ctr">
              <a:lnSpc>
                <a:spcPct val="120000"/>
              </a:lnSpc>
              <a:spcAft>
                <a:spcPts val="600"/>
              </a:spcAft>
              <a:buFont typeface="+mj-lt"/>
              <a:buNone/>
              <a:defRPr sz="1600">
                <a:solidFill>
                  <a:srgbClr val="002060"/>
                </a:solidFill>
              </a:defRPr>
            </a:lvl1pPr>
          </a:lstStyle>
          <a:p>
            <a:pPr marL="182563" indent="-182563" algn="just"/>
            <a:r>
              <a:rPr lang="en-US" altLang="zh-TW" dirty="0" smtClean="0"/>
              <a:t>1.</a:t>
            </a:r>
            <a:r>
              <a:rPr lang="zh-TW" altLang="zh-TW" dirty="0" smtClean="0"/>
              <a:t>比對</a:t>
            </a:r>
            <a:r>
              <a:rPr lang="zh-TW" altLang="zh-TW" dirty="0"/>
              <a:t>兩組自由軟體驗證碼。若一致時</a:t>
            </a:r>
            <a:r>
              <a:rPr lang="zh-TW" altLang="zh-TW" dirty="0" smtClean="0"/>
              <a:t>，應</a:t>
            </a:r>
            <a:r>
              <a:rPr lang="zh-TW" altLang="zh-TW" dirty="0"/>
              <a:t>檢人准予使用；若不一致時</a:t>
            </a:r>
            <a:r>
              <a:rPr lang="zh-TW" altLang="zh-TW" dirty="0" smtClean="0"/>
              <a:t>，應</a:t>
            </a:r>
            <a:r>
              <a:rPr lang="zh-TW" altLang="zh-TW" dirty="0"/>
              <a:t>檢人不得使用</a:t>
            </a:r>
            <a:r>
              <a:rPr lang="zh-TW" altLang="zh-TW" dirty="0" smtClean="0"/>
              <a:t>。</a:t>
            </a:r>
            <a:endParaRPr lang="en-US" altLang="zh-TW" dirty="0" smtClean="0"/>
          </a:p>
          <a:p>
            <a:pPr marL="182563" indent="-182563" algn="just"/>
            <a:r>
              <a:rPr lang="en-US" altLang="zh-TW" dirty="0" smtClean="0"/>
              <a:t>2.</a:t>
            </a:r>
            <a:r>
              <a:rPr lang="zh-TW" altLang="en-US" b="1" dirty="0">
                <a:solidFill>
                  <a:srgbClr val="FF0000"/>
                </a:solidFill>
              </a:rPr>
              <a:t>術科測試辦理</a:t>
            </a:r>
            <a:r>
              <a:rPr lang="zh-TW" altLang="en-US" b="1" dirty="0" smtClean="0">
                <a:solidFill>
                  <a:srgbClr val="FF0000"/>
                </a:solidFill>
              </a:rPr>
              <a:t>單位</a:t>
            </a:r>
            <a:r>
              <a:rPr lang="zh-TW" altLang="en-US" b="1" dirty="0" smtClean="0"/>
              <a:t>：</a:t>
            </a:r>
            <a:r>
              <a:rPr lang="zh-TW" altLang="en-US" dirty="0" smtClean="0"/>
              <a:t>通知應檢人檢核結果，並</a:t>
            </a:r>
            <a:r>
              <a:rPr lang="zh-TW" altLang="zh-TW" dirty="0" smtClean="0"/>
              <a:t>建立</a:t>
            </a:r>
            <a:r>
              <a:rPr lang="zh-TW" altLang="zh-TW" dirty="0"/>
              <a:t>「應檢人自備軟體清冊」</a:t>
            </a:r>
            <a:r>
              <a:rPr lang="zh-TW" altLang="en-US" dirty="0"/>
              <a:t>於測試當日供監評人員確認</a:t>
            </a:r>
            <a:r>
              <a:rPr lang="zh-TW" altLang="zh-TW" dirty="0"/>
              <a:t>。</a:t>
            </a:r>
            <a:endParaRPr lang="en-US" altLang="zh-TW" dirty="0"/>
          </a:p>
        </p:txBody>
      </p:sp>
      <p:sp>
        <p:nvSpPr>
          <p:cNvPr id="8" name="文字方塊 7"/>
          <p:cNvSpPr txBox="1"/>
          <p:nvPr/>
        </p:nvSpPr>
        <p:spPr>
          <a:xfrm>
            <a:off x="499592" y="4907383"/>
            <a:ext cx="838825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altLang="zh-TW" sz="1600" b="1" dirty="0" smtClean="0">
                <a:solidFill>
                  <a:srgbClr val="C00000"/>
                </a:solidFill>
                <a:latin typeface="+mn-ea"/>
              </a:rPr>
              <a:t>PS</a:t>
            </a:r>
            <a:r>
              <a:rPr lang="zh-TW" altLang="en-US" sz="1600" b="1" dirty="0" smtClean="0">
                <a:solidFill>
                  <a:srgbClr val="C00000"/>
                </a:solidFill>
                <a:latin typeface="+mn-ea"/>
              </a:rPr>
              <a:t>：</a:t>
            </a:r>
            <a:endParaRPr lang="en-US" altLang="zh-TW" sz="1600" b="1" dirty="0" smtClean="0">
              <a:solidFill>
                <a:srgbClr val="C00000"/>
              </a:solidFill>
              <a:latin typeface="+mn-ea"/>
            </a:endParaRPr>
          </a:p>
          <a:p>
            <a:pPr marL="265113" indent="-265113" algn="just">
              <a:spcAft>
                <a:spcPts val="1200"/>
              </a:spcAft>
              <a:buFont typeface="+mj-lt"/>
              <a:buAutoNum type="arabicPeriod"/>
            </a:pP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產出多種</a:t>
            </a:r>
            <a:r>
              <a:rPr lang="zh-TW" altLang="en-US" sz="1600" dirty="0">
                <a:solidFill>
                  <a:srgbClr val="C00000"/>
                </a:solidFill>
                <a:latin typeface="+mn-ea"/>
              </a:rPr>
              <a:t>驗證</a:t>
            </a: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碼，如：</a:t>
            </a:r>
            <a:r>
              <a:rPr lang="en-US" altLang="zh-TW" sz="1600" dirty="0">
                <a:solidFill>
                  <a:srgbClr val="C00000"/>
                </a:solidFill>
                <a:latin typeface="+mn-ea"/>
              </a:rPr>
              <a:t>MD5</a:t>
            </a:r>
            <a:r>
              <a:rPr lang="zh-TW" altLang="zh-TW" sz="1600" dirty="0">
                <a:solidFill>
                  <a:srgbClr val="C00000"/>
                </a:solidFill>
                <a:latin typeface="+mn-ea"/>
              </a:rPr>
              <a:t>、</a:t>
            </a:r>
            <a:r>
              <a:rPr lang="en-US" altLang="zh-TW" sz="1600" dirty="0">
                <a:solidFill>
                  <a:srgbClr val="C00000"/>
                </a:solidFill>
                <a:latin typeface="+mn-ea"/>
              </a:rPr>
              <a:t>SHA1</a:t>
            </a:r>
            <a:r>
              <a:rPr lang="zh-TW" altLang="zh-TW" sz="1600" dirty="0">
                <a:solidFill>
                  <a:srgbClr val="C00000"/>
                </a:solidFill>
                <a:latin typeface="+mn-ea"/>
              </a:rPr>
              <a:t>、</a:t>
            </a:r>
            <a:r>
              <a:rPr lang="en-US" altLang="zh-TW" sz="1600" dirty="0" smtClean="0">
                <a:solidFill>
                  <a:srgbClr val="C00000"/>
                </a:solidFill>
                <a:latin typeface="+mn-ea"/>
              </a:rPr>
              <a:t>CRC32</a:t>
            </a: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、</a:t>
            </a:r>
            <a:r>
              <a:rPr lang="en-US" altLang="zh-TW" sz="1600" dirty="0" smtClean="0">
                <a:solidFill>
                  <a:srgbClr val="C00000"/>
                </a:solidFill>
                <a:latin typeface="+mn-ea"/>
              </a:rPr>
              <a:t>SHA-256…</a:t>
            </a: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等，僅需比對其中一種與官方網站提供的驗證碼相同即可</a:t>
            </a:r>
            <a:r>
              <a:rPr lang="en-US" altLang="zh-TW" sz="1600" dirty="0" smtClean="0">
                <a:solidFill>
                  <a:srgbClr val="C00000"/>
                </a:solidFill>
                <a:latin typeface="+mn-ea"/>
              </a:rPr>
              <a:t>(</a:t>
            </a: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如：本</a:t>
            </a:r>
            <a:r>
              <a:rPr lang="zh-TW" altLang="en-US" sz="1600" dirty="0">
                <a:solidFill>
                  <a:srgbClr val="C00000"/>
                </a:solidFill>
                <a:latin typeface="+mn-ea"/>
              </a:rPr>
              <a:t>次示範</a:t>
            </a: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軟體官網提供的為 </a:t>
            </a:r>
            <a:r>
              <a:rPr lang="en-US" altLang="zh-TW" sz="1600" dirty="0" smtClean="0">
                <a:solidFill>
                  <a:srgbClr val="C00000"/>
                </a:solidFill>
                <a:latin typeface="+mn-ea"/>
              </a:rPr>
              <a:t>SHA1)</a:t>
            </a: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。</a:t>
            </a:r>
            <a:endParaRPr lang="en-US" altLang="zh-TW" sz="1600" dirty="0" smtClean="0">
              <a:solidFill>
                <a:srgbClr val="C00000"/>
              </a:solidFill>
              <a:latin typeface="+mn-ea"/>
            </a:endParaRPr>
          </a:p>
          <a:p>
            <a:pPr marL="265113" indent="-265113" algn="just">
              <a:spcAft>
                <a:spcPts val="600"/>
              </a:spcAft>
              <a:buFont typeface="+mj-lt"/>
              <a:buAutoNum type="arabicPeriod"/>
            </a:pPr>
            <a:r>
              <a:rPr lang="zh-TW" altLang="en-US" sz="1600" dirty="0">
                <a:solidFill>
                  <a:srgbClr val="C00000"/>
                </a:solidFill>
                <a:latin typeface="+mn-ea"/>
              </a:rPr>
              <a:t>比對</a:t>
            </a: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方式：</a:t>
            </a:r>
            <a:r>
              <a:rPr lang="en-US" altLang="zh-TW" sz="1600" dirty="0" smtClean="0">
                <a:solidFill>
                  <a:srgbClr val="C00000"/>
                </a:solidFill>
                <a:latin typeface="+mn-ea"/>
              </a:rPr>
              <a:t>(1)</a:t>
            </a: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直接目視比對，或 </a:t>
            </a:r>
            <a:r>
              <a:rPr lang="en-US" altLang="zh-TW" sz="1600" dirty="0" smtClean="0">
                <a:solidFill>
                  <a:srgbClr val="C00000"/>
                </a:solidFill>
                <a:latin typeface="+mn-ea"/>
              </a:rPr>
              <a:t>(2)</a:t>
            </a: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軟體</a:t>
            </a:r>
            <a:r>
              <a:rPr lang="en-US" altLang="zh-TW" sz="1600" dirty="0" smtClean="0">
                <a:solidFill>
                  <a:srgbClr val="C00000"/>
                </a:solidFill>
                <a:latin typeface="+mn-ea"/>
              </a:rPr>
              <a:t>(</a:t>
            </a: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如：</a:t>
            </a:r>
            <a:r>
              <a:rPr lang="en-US" altLang="zh-TW" sz="1600" dirty="0" smtClean="0">
                <a:solidFill>
                  <a:srgbClr val="C00000"/>
                </a:solidFill>
                <a:latin typeface="+mn-ea"/>
              </a:rPr>
              <a:t>EXCEL)</a:t>
            </a: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比對。其實目視法也很簡單，通常</a:t>
            </a:r>
            <a:r>
              <a:rPr lang="en-US" altLang="zh-TW" sz="1600" dirty="0" smtClean="0">
                <a:solidFill>
                  <a:srgbClr val="C00000"/>
                </a:solidFill>
                <a:latin typeface="+mn-ea"/>
              </a:rPr>
              <a:t>1</a:t>
            </a: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個字元錯，後面就會全部不同，不會只有</a:t>
            </a:r>
            <a:r>
              <a:rPr lang="en-US" altLang="zh-TW" sz="1600" dirty="0" smtClean="0">
                <a:solidFill>
                  <a:srgbClr val="C00000"/>
                </a:solidFill>
                <a:latin typeface="+mn-ea"/>
              </a:rPr>
              <a:t>1</a:t>
            </a:r>
            <a:r>
              <a:rPr lang="zh-TW" altLang="en-US" sz="1600" dirty="0" smtClean="0">
                <a:solidFill>
                  <a:srgbClr val="C00000"/>
                </a:solidFill>
                <a:latin typeface="+mn-ea"/>
              </a:rPr>
              <a:t>個字元不同。</a:t>
            </a:r>
            <a:endParaRPr lang="en-US" altLang="zh-TW" sz="1600" dirty="0" smtClean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1" name="右彎箭號 10"/>
          <p:cNvSpPr/>
          <p:nvPr/>
        </p:nvSpPr>
        <p:spPr>
          <a:xfrm rot="5400000" flipV="1">
            <a:off x="89743" y="2006604"/>
            <a:ext cx="2051745" cy="1440159"/>
          </a:xfrm>
          <a:prstGeom prst="bentArrow">
            <a:avLst>
              <a:gd name="adj1" fmla="val 10244"/>
              <a:gd name="adj2" fmla="val 11649"/>
              <a:gd name="adj3" fmla="val 19513"/>
              <a:gd name="adj4" fmla="val 27877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9" name="上-下雙向箭號 8"/>
          <p:cNvSpPr/>
          <p:nvPr/>
        </p:nvSpPr>
        <p:spPr>
          <a:xfrm>
            <a:off x="1691680" y="1522185"/>
            <a:ext cx="288032" cy="578582"/>
          </a:xfrm>
          <a:prstGeom prst="upDownArrow">
            <a:avLst>
              <a:gd name="adj1" fmla="val 35404"/>
              <a:gd name="adj2" fmla="val 50000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3170700" y="150170"/>
            <a:ext cx="3046040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000"/>
            </a:lvl1pPr>
          </a:lstStyle>
          <a:p>
            <a:r>
              <a:rPr lang="zh-TW" altLang="en-US" dirty="0" smtClean="0"/>
              <a:t>步驟四：</a:t>
            </a:r>
            <a:r>
              <a:rPr lang="zh-TW" altLang="en-US" dirty="0"/>
              <a:t>驗證碼</a:t>
            </a:r>
            <a:r>
              <a:rPr lang="zh-TW" altLang="en-US" dirty="0" smtClean="0"/>
              <a:t>比對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8356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2" r="32985" b="37863"/>
          <a:stretch/>
        </p:blipFill>
        <p:spPr bwMode="auto">
          <a:xfrm>
            <a:off x="3523030" y="3197211"/>
            <a:ext cx="5617158" cy="2885089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1" r="18025" b="36915"/>
          <a:stretch/>
        </p:blipFill>
        <p:spPr bwMode="auto">
          <a:xfrm>
            <a:off x="91273" y="620688"/>
            <a:ext cx="6871138" cy="2853559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矩形圖說文字 2"/>
          <p:cNvSpPr/>
          <p:nvPr/>
        </p:nvSpPr>
        <p:spPr>
          <a:xfrm>
            <a:off x="83463" y="3909253"/>
            <a:ext cx="3264402" cy="671875"/>
          </a:xfrm>
          <a:prstGeom prst="wedgeRectCallout">
            <a:avLst>
              <a:gd name="adj1" fmla="val 22590"/>
              <a:gd name="adj2" fmla="val -13622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</a:rPr>
              <a:t>輸入比對公式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圖說文字 5"/>
          <p:cNvSpPr/>
          <p:nvPr/>
        </p:nvSpPr>
        <p:spPr>
          <a:xfrm>
            <a:off x="27355" y="5805264"/>
            <a:ext cx="3495675" cy="1052737"/>
          </a:xfrm>
          <a:prstGeom prst="wedgeRectCallout">
            <a:avLst>
              <a:gd name="adj1" fmla="val 170491"/>
              <a:gd name="adj2" fmla="val -3404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 smtClean="0">
                <a:solidFill>
                  <a:schemeClr val="tx1"/>
                </a:solidFill>
              </a:rPr>
              <a:t>比對</a:t>
            </a:r>
            <a:r>
              <a:rPr lang="zh-TW" altLang="en-US" dirty="0" smtClean="0">
                <a:solidFill>
                  <a:srgbClr val="0000FF"/>
                </a:solidFill>
              </a:rPr>
              <a:t>相同</a:t>
            </a:r>
            <a:r>
              <a:rPr lang="zh-TW" altLang="en-US" dirty="0" smtClean="0">
                <a:solidFill>
                  <a:schemeClr val="tx1"/>
                </a:solidFill>
              </a:rPr>
              <a:t>顯示</a:t>
            </a:r>
            <a:r>
              <a:rPr lang="en-US" altLang="zh-TW" b="1" dirty="0" smtClean="0">
                <a:solidFill>
                  <a:srgbClr val="0000FF"/>
                </a:solidFill>
              </a:rPr>
              <a:t>TRUE</a:t>
            </a:r>
            <a:r>
              <a:rPr lang="zh-TW" altLang="en-US" dirty="0" smtClean="0">
                <a:solidFill>
                  <a:schemeClr val="tx1"/>
                </a:solidFill>
              </a:rPr>
              <a:t>，</a:t>
            </a:r>
            <a:r>
              <a:rPr lang="zh-TW" altLang="en-US" dirty="0" smtClean="0">
                <a:solidFill>
                  <a:srgbClr val="FF0000"/>
                </a:solidFill>
              </a:rPr>
              <a:t>不同</a:t>
            </a:r>
            <a:r>
              <a:rPr lang="zh-TW" altLang="en-US" dirty="0" smtClean="0">
                <a:solidFill>
                  <a:schemeClr val="tx1"/>
                </a:solidFill>
              </a:rPr>
              <a:t>則顯示</a:t>
            </a:r>
            <a:r>
              <a:rPr lang="en-US" altLang="zh-TW" b="1" dirty="0" smtClean="0">
                <a:solidFill>
                  <a:srgbClr val="FF0000"/>
                </a:solidFill>
              </a:rPr>
              <a:t>FALSE</a:t>
            </a:r>
            <a:r>
              <a:rPr lang="zh-TW" altLang="en-US" b="1" dirty="0" smtClean="0">
                <a:solidFill>
                  <a:schemeClr val="tx1"/>
                </a:solidFill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</a:rPr>
              <a:t>(</a:t>
            </a:r>
            <a:r>
              <a:rPr lang="zh-TW" altLang="en-US" dirty="0" smtClean="0">
                <a:solidFill>
                  <a:schemeClr val="tx1"/>
                </a:solidFill>
              </a:rPr>
              <a:t>注意不要不小心將空格填入驗證碼中</a:t>
            </a:r>
            <a:r>
              <a:rPr lang="en-US" altLang="zh-TW" dirty="0" smtClean="0">
                <a:solidFill>
                  <a:schemeClr val="tx1"/>
                </a:solidFill>
              </a:rPr>
              <a:t>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0578" y="107488"/>
            <a:ext cx="4589718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2000" spc="300" dirty="0"/>
              <a:t>範例：利用軟體</a:t>
            </a:r>
            <a:r>
              <a:rPr lang="en-US" altLang="zh-TW" sz="2000" spc="300" dirty="0"/>
              <a:t>(</a:t>
            </a:r>
            <a:r>
              <a:rPr lang="zh-TW" altLang="en-US" sz="2000" spc="300" dirty="0"/>
              <a:t>如：</a:t>
            </a:r>
            <a:r>
              <a:rPr lang="en-US" altLang="zh-TW" sz="2000" spc="300" dirty="0"/>
              <a:t>EXCEL)</a:t>
            </a:r>
            <a:r>
              <a:rPr lang="zh-TW" altLang="en-US" sz="2000" spc="300" dirty="0"/>
              <a:t>比對</a:t>
            </a:r>
          </a:p>
        </p:txBody>
      </p:sp>
    </p:spTree>
    <p:extLst>
      <p:ext uri="{BB962C8B-B14F-4D97-AF65-F5344CB8AC3E}">
        <p14:creationId xmlns:p14="http://schemas.microsoft.com/office/powerpoint/2010/main" val="110331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氣流">
  <a:themeElements>
    <a:clrScheme name="氣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氣流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氣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1002</TotalTime>
  <Words>387</Words>
  <Application>Microsoft Office PowerPoint</Application>
  <PresentationFormat>如螢幕大小 (4:3)</PresentationFormat>
  <Paragraphs>29</Paragraphs>
  <Slides>7</Slides>
  <Notes>3</Notes>
  <HiddenSlides>0</HiddenSlides>
  <MMClips>2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氣流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陳建琪</dc:creator>
  <cp:lastModifiedBy>陳建琪</cp:lastModifiedBy>
  <cp:revision>65</cp:revision>
  <dcterms:created xsi:type="dcterms:W3CDTF">2017-11-15T09:05:23Z</dcterms:created>
  <dcterms:modified xsi:type="dcterms:W3CDTF">2017-12-12T03:24:19Z</dcterms:modified>
</cp:coreProperties>
</file>